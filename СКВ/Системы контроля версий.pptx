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9135A3D-D76F-4E3B-A341-44D5841781E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47D0C0-4AC4-49C5-3B8B-F0A8113BA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E1DF712-73A2-15E1-EF3F-6070B6FD3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89978C-4AE0-DB3B-0E86-A0522681F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6C8E-CA6E-49DF-9CE7-5930CDB09278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BBBCD3-86BE-BAC1-34B9-11C2C6E95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893146-0A7D-B949-FD24-C73C2BE46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5401-6699-46CC-9169-AED1DBD97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31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6CA9A-FED3-DA28-99EA-208F93977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F4D271-0568-60F8-DB02-8AFF892C3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285B96-C287-5A0F-7495-C07320BC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6C8E-CA6E-49DF-9CE7-5930CDB09278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E482F6-F99B-7985-90C8-9FB0C6B0D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6A7AEF-531F-F20F-F393-798C42D72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5401-6699-46CC-9169-AED1DBD97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515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819FC4-F2C1-6020-8078-6A603E43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89F081-1B16-653D-9886-40D8E545E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396621-C7EC-2688-9BD9-267AFBB6B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6C8E-CA6E-49DF-9CE7-5930CDB09278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BCC924-401E-DBBA-FB33-4C7C98107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57EBCB-ADC9-CA43-2CE7-D652231B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5401-6699-46CC-9169-AED1DBD97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21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1BE11-D758-553D-5036-C7866023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D026BD-58B3-68D4-BBB1-063786507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F1EDC3-86D9-FC31-1C5C-C278BE1D0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928AEC-1A15-EF9B-7A18-7AD21D0B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6C8E-CA6E-49DF-9CE7-5930CDB09278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74CB65-A272-9373-4E52-C6A1A6D0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FC2A03-24ED-DB5A-7574-74C6D92E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5401-6699-46CC-9169-AED1DBD97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08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8FC613-3205-FD5F-5B38-680C2BC3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9620C1-7FCF-AD9F-585C-1C1B26BD9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74907D-CF9F-0B9E-777F-DB1BDFFE9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8099E26-E3B0-C7C3-A6C5-14A5EE127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64DF64-8447-017E-CA15-8407E4560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3EDE2EB-D5B1-12F3-9CAF-FB5D47DEE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6C8E-CA6E-49DF-9CE7-5930CDB09278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85733EB-6923-A012-02FF-7D93909C3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866EE77-8342-FF0B-5E4E-135D4F37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5401-6699-46CC-9169-AED1DBD97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459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6FE14-F78A-748C-DC11-24F11E272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6AE20F3-C0C0-29C4-ED85-4BBB5D820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6C8E-CA6E-49DF-9CE7-5930CDB09278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AF76E69-2118-49D7-8460-E97DF4D7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1632FB-59E4-724F-C54B-CD3E8EC16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5401-6699-46CC-9169-AED1DBD97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62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85BF02E-6E6D-9C6C-EE7D-992FBAFA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6C8E-CA6E-49DF-9CE7-5930CDB09278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FC037D7-7F1C-F38D-33E3-80C6754A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2BF9BA-4F3C-5AA5-B674-905E2FDD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5401-6699-46CC-9169-AED1DBD97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15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200DD-EE94-66F0-9F4A-720A122CE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7555D0-6B1F-FDAA-EF6B-36AC4074A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E2711F-1558-0A1F-F994-3C46A9A37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2EC754-61CA-80DD-7596-AF744D48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6C8E-CA6E-49DF-9CE7-5930CDB09278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3B6F5B-EBAB-940F-0993-728E6766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C0F713-3A81-DB8E-8518-EE6A201A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5401-6699-46CC-9169-AED1DBD97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90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15B07-9BF5-E013-FD5F-A390E4ECB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026CFCE-332E-F0BD-9B4B-EA6F7C5A1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A4FCED-51FD-D729-8E78-3BBCE7ABA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6875EA-DD50-5C99-D233-9C6A09F4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6C8E-CA6E-49DF-9CE7-5930CDB09278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44BA25-FD7A-4478-93D2-CDE93578D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22875D-D4B2-F2D4-3DDE-1C8E42416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5401-6699-46CC-9169-AED1DBD97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21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8362D-F30B-9D77-0EA0-73AB6EBF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E3A699-5594-AC4E-1E94-C63D5C84B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AA6F3C-9724-9882-6E92-04936BF61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6C8E-CA6E-49DF-9CE7-5930CDB09278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B94D43-DBA3-FAAE-8ADF-2C7B74DB6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994CD9-56CA-082A-7B73-446F68731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5401-6699-46CC-9169-AED1DBD97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78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EAE94F5-4E16-E3D8-2911-547E4E471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BC0FB4-78A7-8472-103B-9A89571CA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B43B-A60A-F68F-53B9-A6E87A8D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6C8E-CA6E-49DF-9CE7-5930CDB09278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DCCF6B-27DE-C82A-E60F-44BBE528C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545639-ED76-4BF1-8AE2-7EEE3A6A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5401-6699-46CC-9169-AED1DBD97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66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D8F26-2C12-5623-D244-08F96CF1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576FE7-00E1-F6C1-FF33-4076B522B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0E45CC-0718-07DA-DC2D-024B3BF47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F6C8E-CA6E-49DF-9CE7-5930CDB09278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938FE1-5EF3-1F2F-1C47-E665FEF9A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26DBDF-EE87-D605-7473-7BAB4C8D0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55401-6699-46CC-9169-AED1DBD97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60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DCD96-9572-42D2-F485-3BBC603A2C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Системы контроля версий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F2A0D2-5F80-87B7-4290-4900155020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1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B6918-6444-FA74-FF0F-483B35BB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системы контроля версий?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C29491-D33B-95E2-3002-70FEF0052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Система контроля версий (СКВ, </a:t>
            </a:r>
            <a:r>
              <a:rPr lang="ru-RU" dirty="0" err="1"/>
              <a:t>Version</a:t>
            </a:r>
            <a:r>
              <a:rPr lang="ru-RU" dirty="0"/>
              <a:t> Control System, VCS) — это система, которая сохраняет историю изменений в файлах проекта, позволяя отслеживать, управлять версиями и работать над проектом совместно. </a:t>
            </a:r>
          </a:p>
          <a:p>
            <a:r>
              <a:rPr lang="ru-RU" dirty="0"/>
              <a:t>Системы контроля версий помогают возвращаться к предыдущим состояниям, видеть кто и когда внес изменения, и устранять ошибки без потери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400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EEDA8-6C4D-98F0-B4B2-0AC7E26E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применяются СКВ?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95DC85-313C-EE1E-351C-DBD6ACDBD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ru-RU" b="1" dirty="0"/>
              <a:t>Разработка программного обеспечения</a:t>
            </a:r>
            <a:endParaRPr lang="ru-RU" dirty="0"/>
          </a:p>
          <a:p>
            <a:r>
              <a:rPr lang="ru-RU" dirty="0"/>
              <a:t>Это самая распространённая и классическая область применения СКВ. Они помогают управлять исходным кодом, фиксируют историю изменений, позволяют разработчикам работать параллельно над разными частями проекта, сливать изменения и откатывать ошибки.</a:t>
            </a:r>
          </a:p>
          <a:p>
            <a:pPr lvl="0"/>
            <a:r>
              <a:rPr lang="ru-RU" b="1" dirty="0"/>
              <a:t>Техническая документация и научные исследования</a:t>
            </a:r>
            <a:endParaRPr lang="ru-RU" dirty="0"/>
          </a:p>
          <a:p>
            <a:r>
              <a:rPr lang="ru-RU" dirty="0"/>
              <a:t>СКВ используют для отслеживания изменений в документации, чтобы видеть эволюцию текста, исправления и дополнения. В научных проектах система помогает сохранять версии результатов экспериментов и работ коллективов.</a:t>
            </a:r>
          </a:p>
          <a:p>
            <a:pPr lvl="0"/>
            <a:r>
              <a:rPr lang="ru-RU" b="1" dirty="0"/>
              <a:t>Управление контентом и файлами</a:t>
            </a:r>
            <a:endParaRPr lang="ru-RU" dirty="0"/>
          </a:p>
          <a:p>
            <a:r>
              <a:rPr lang="ru-RU" dirty="0"/>
              <a:t>СКВ применяются для контроля изменений в больших объемах файлов (например, в веб-проектах, дизайн-файлах, учебных материалах), что облегчает совместную работу и восстановление предыдущих версий при ошибках.</a:t>
            </a:r>
          </a:p>
          <a:p>
            <a:pPr lvl="0"/>
            <a:r>
              <a:rPr lang="ru-RU" b="1" dirty="0"/>
              <a:t>Командная работа и проектное управление</a:t>
            </a:r>
            <a:endParaRPr lang="ru-RU" dirty="0"/>
          </a:p>
          <a:p>
            <a:r>
              <a:rPr lang="ru-RU" dirty="0"/>
              <a:t>СКВ позволяют эффективно координировать действия в командах, избегая конфликтов при одновременной работе, обеспечивая сохранность информации и прозрачность истории изменений.</a:t>
            </a:r>
          </a:p>
          <a:p>
            <a:pPr lvl="0"/>
            <a:r>
              <a:rPr lang="ru-RU" b="1" dirty="0"/>
              <a:t>Непрерывная интеграция и развертывание (CI/CD)</a:t>
            </a:r>
            <a:endParaRPr lang="ru-RU" dirty="0"/>
          </a:p>
          <a:p>
            <a:r>
              <a:rPr lang="ru-RU" dirty="0"/>
              <a:t>СКВ являются основой современных </a:t>
            </a:r>
            <a:r>
              <a:rPr lang="ru-RU" dirty="0" err="1"/>
              <a:t>DevOps</a:t>
            </a:r>
            <a:r>
              <a:rPr lang="ru-RU" dirty="0"/>
              <a:t>-процессов, позволяя автоматически тестировать, собирать и выкатывать программные продукты при изменениях в репозитории.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4017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D21C0-D587-77D0-E0C9-34F91F6C2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задачи СКВ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6E9A0E-71AD-D95D-E582-06A0393C6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ru-RU" b="1" dirty="0"/>
              <a:t>Отслеживание изменений.</a:t>
            </a:r>
            <a:r>
              <a:rPr lang="ru-RU" dirty="0"/>
              <a:t> СКВ сохраняет историю всех изменений, что позволяет разработчикам видеть, кто и когда внес изменения, а также вернуться к любой предыдущей версии кода.</a:t>
            </a:r>
          </a:p>
          <a:p>
            <a:pPr lvl="0"/>
            <a:r>
              <a:rPr lang="ru-RU" b="1" dirty="0"/>
              <a:t>Совместная работа.</a:t>
            </a:r>
            <a:r>
              <a:rPr lang="ru-RU" dirty="0"/>
              <a:t> СКВ позволяет нескольким разработчикам работать над одним проектом одновременно, синхронизируя их изменения и предотвращая конфликты.</a:t>
            </a:r>
          </a:p>
          <a:p>
            <a:pPr lvl="0"/>
            <a:r>
              <a:rPr lang="ru-RU" b="1" dirty="0"/>
              <a:t>Ветвление и слияние.</a:t>
            </a:r>
            <a:r>
              <a:rPr lang="ru-RU" dirty="0"/>
              <a:t> СКВ поддерживает создание параллельных версий проекта (веток), что позволяет разработчикам работать над новыми функциями или исправлениями ошибок без влияния на основную версию кода. После завершения работы изменения можно объединить.</a:t>
            </a:r>
          </a:p>
          <a:p>
            <a:pPr lvl="0"/>
            <a:r>
              <a:rPr lang="ru-RU" b="1" dirty="0"/>
              <a:t>Резервное копирование и восстановление.</a:t>
            </a:r>
            <a:r>
              <a:rPr lang="ru-RU" dirty="0"/>
              <a:t> СКВ обеспечивает надежное хранение всех версий проекта, что защищает от потери данных и позволяет восстановить проект в случае ошибок или сбоев.</a:t>
            </a:r>
          </a:p>
          <a:p>
            <a:pPr lvl="0"/>
            <a:r>
              <a:rPr lang="ru-RU" b="1" dirty="0"/>
              <a:t>Документирование изменений.</a:t>
            </a:r>
            <a:r>
              <a:rPr lang="ru-RU" dirty="0"/>
              <a:t> СКВ позволяет добавлять комментарии к каждому изменению, что помогает лучше понимать причины и контекст изменений.</a:t>
            </a:r>
          </a:p>
          <a:p>
            <a:pPr lvl="0"/>
            <a:r>
              <a:rPr lang="ru-RU" b="1" dirty="0"/>
              <a:t>Управление релизами.</a:t>
            </a:r>
            <a:r>
              <a:rPr lang="ru-RU" dirty="0"/>
              <a:t> СКВ облегчает процесс выпуска новых версий программного обеспечения, позволяя четко отслеживать, какие изменения вошли в каждую версию.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6789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31F01-0BF9-BE3B-3F16-23A1ED28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развития СКВ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CBF30-F05E-137D-8F32-E4DE82BCE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История появления и развития СКВ можно разбить на три поколения:</a:t>
            </a:r>
          </a:p>
          <a:p>
            <a:r>
              <a:rPr lang="ru-RU" b="1" dirty="0"/>
              <a:t>Локальные системы контроля версий</a:t>
            </a:r>
          </a:p>
          <a:p>
            <a:r>
              <a:rPr lang="ru-RU" b="1" dirty="0"/>
              <a:t>Централизованные системы контроля версий</a:t>
            </a:r>
          </a:p>
          <a:p>
            <a:r>
              <a:rPr lang="ru-RU" b="1" dirty="0"/>
              <a:t>Распределенные системы контроля версий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9228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E916B-43A5-E9B8-61C0-F82408B6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Локальные системы контроля версий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566E0A-4832-9EB5-7952-3B5AB268E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4759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SCCS считается одной из первых успешных систем управления версиями. Она была разработана в 1972 году Марком </a:t>
            </a:r>
            <a:r>
              <a:rPr lang="ru-RU" dirty="0" err="1"/>
              <a:t>Рочкиндом</a:t>
            </a:r>
            <a:r>
              <a:rPr lang="ru-RU" dirty="0"/>
              <a:t> из Bell Labs. </a:t>
            </a:r>
          </a:p>
          <a:p>
            <a:r>
              <a:rPr lang="ru-RU" dirty="0"/>
              <a:t>Специфика локальных СКВ – это хранение как исходного кода, так и всех его версий в одном месте – на компьютере разработчика. Эта особенность является одновременно и главным минусом таких систем. В случае сбоя может быть потеряна не только какая-то из версий, но и весь проект целиком.</a:t>
            </a:r>
          </a:p>
          <a:p>
            <a:r>
              <a:rPr lang="ru-RU" dirty="0"/>
              <a:t>Также в локальных СКВ отсутствует поддержка командной работы и совместного доступа к версиям, что делает их неудобными для организации командной разработки ПО.</a:t>
            </a:r>
          </a:p>
          <a:p>
            <a:endParaRPr lang="ru-RU" dirty="0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EF18BCC0-73AB-0A4E-2961-D3D77350E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" name="Полотно 1">
            <a:extLst>
              <a:ext uri="{FF2B5EF4-FFF2-40B4-BE49-F238E27FC236}">
                <a16:creationId xmlns:a16="http://schemas.microsoft.com/office/drawing/2014/main" id="{67B65832-FFCE-57FE-28B0-EA15B60B24D8}"/>
              </a:ext>
            </a:extLst>
          </p:cNvPr>
          <p:cNvGrpSpPr/>
          <p:nvPr/>
        </p:nvGrpSpPr>
        <p:grpSpPr>
          <a:xfrm>
            <a:off x="6420035" y="1853332"/>
            <a:ext cx="5382260" cy="3061335"/>
            <a:chOff x="0" y="0"/>
            <a:chExt cx="5382260" cy="3061335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D3881075-F189-DFAF-96B7-B795B736D4D0}"/>
                </a:ext>
              </a:extLst>
            </p:cNvPr>
            <p:cNvSpPr/>
            <p:nvPr/>
          </p:nvSpPr>
          <p:spPr>
            <a:xfrm>
              <a:off x="0" y="0"/>
              <a:ext cx="5382260" cy="3061335"/>
            </a:xfrm>
            <a:prstGeom prst="rect">
              <a:avLst/>
            </a:prstGeom>
            <a:solidFill>
              <a:prstClr val="white"/>
            </a:solidFill>
          </p:spPr>
        </p: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B472574C-A786-7DAB-A799-BA320A07A5A1}"/>
                </a:ext>
              </a:extLst>
            </p:cNvPr>
            <p:cNvGrpSpPr/>
            <p:nvPr/>
          </p:nvGrpSpPr>
          <p:grpSpPr>
            <a:xfrm>
              <a:off x="214686" y="49583"/>
              <a:ext cx="4918031" cy="2943783"/>
              <a:chOff x="214686" y="127221"/>
              <a:chExt cx="5128591" cy="2965836"/>
            </a:xfrm>
          </p:grpSpPr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6C082C8A-4FF3-3CEB-2BDE-00C5085AC5D4}"/>
                  </a:ext>
                </a:extLst>
              </p:cNvPr>
              <p:cNvSpPr/>
              <p:nvPr/>
            </p:nvSpPr>
            <p:spPr>
              <a:xfrm>
                <a:off x="214686" y="127221"/>
                <a:ext cx="5128591" cy="2965836"/>
              </a:xfrm>
              <a:prstGeom prst="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sp>
            <p:nvSpPr>
              <p:cNvPr id="9" name="Надпись 32268560">
                <a:extLst>
                  <a:ext uri="{FF2B5EF4-FFF2-40B4-BE49-F238E27FC236}">
                    <a16:creationId xmlns:a16="http://schemas.microsoft.com/office/drawing/2014/main" id="{95707044-07A9-AF58-4F52-DDF9C6A09012}"/>
                  </a:ext>
                </a:extLst>
              </p:cNvPr>
              <p:cNvSpPr txBox="1"/>
              <p:nvPr/>
            </p:nvSpPr>
            <p:spPr>
              <a:xfrm>
                <a:off x="1733385" y="286384"/>
                <a:ext cx="2016359" cy="286385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u-RU" sz="14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Локальный компьютер</a:t>
                </a:r>
                <a:endParaRPr lang="ru-RU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Прямоугольник: скругленные углы 9">
                <a:extLst>
                  <a:ext uri="{FF2B5EF4-FFF2-40B4-BE49-F238E27FC236}">
                    <a16:creationId xmlns:a16="http://schemas.microsoft.com/office/drawing/2014/main" id="{49367DB9-23C5-9B12-8E88-04D93FEBE85E}"/>
                  </a:ext>
                </a:extLst>
              </p:cNvPr>
              <p:cNvSpPr/>
              <p:nvPr/>
            </p:nvSpPr>
            <p:spPr>
              <a:xfrm>
                <a:off x="691763" y="1232451"/>
                <a:ext cx="962108" cy="31010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u-RU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Файл</a:t>
                </a:r>
                <a:endParaRPr lang="ru-RU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Надпись 1192677782">
                <a:extLst>
                  <a:ext uri="{FF2B5EF4-FFF2-40B4-BE49-F238E27FC236}">
                    <a16:creationId xmlns:a16="http://schemas.microsoft.com/office/drawing/2014/main" id="{6E844515-AD75-DC2B-6E45-43D265D07F5C}"/>
                  </a:ext>
                </a:extLst>
              </p:cNvPr>
              <p:cNvSpPr txBox="1"/>
              <p:nvPr/>
            </p:nvSpPr>
            <p:spPr>
              <a:xfrm>
                <a:off x="627766" y="898497"/>
                <a:ext cx="1182666" cy="24638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u-RU" sz="1200" kern="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Рабочая</a:t>
                </a:r>
                <a:r>
                  <a:rPr lang="ru-RU" sz="1100" kern="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200" kern="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копия</a:t>
                </a:r>
                <a:endParaRPr lang="ru-RU" sz="11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BF1CAA1-D095-B13E-F64D-DEE120B82B02}"/>
                  </a:ext>
                </a:extLst>
              </p:cNvPr>
              <p:cNvSpPr/>
              <p:nvPr/>
            </p:nvSpPr>
            <p:spPr>
              <a:xfrm>
                <a:off x="2719346" y="898497"/>
                <a:ext cx="1820849" cy="193216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u-RU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База данных версий</a:t>
                </a:r>
                <a:endParaRPr lang="ru-RU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7D382DAB-4814-85A6-DDF6-5F2D64DA652A}"/>
                  </a:ext>
                </a:extLst>
              </p:cNvPr>
              <p:cNvSpPr/>
              <p:nvPr/>
            </p:nvSpPr>
            <p:spPr>
              <a:xfrm>
                <a:off x="3140764" y="1232451"/>
                <a:ext cx="962108" cy="31010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u-RU" sz="11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Версия 1</a:t>
                </a:r>
              </a:p>
            </p:txBody>
          </p:sp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1664E32E-0372-5DC5-46DB-C1B739B89AFD}"/>
                  </a:ext>
                </a:extLst>
              </p:cNvPr>
              <p:cNvSpPr/>
              <p:nvPr/>
            </p:nvSpPr>
            <p:spPr>
              <a:xfrm>
                <a:off x="3140764" y="1645919"/>
                <a:ext cx="962108" cy="31010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u-RU" sz="11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Версия 2</a:t>
                </a:r>
              </a:p>
            </p:txBody>
          </p:sp>
          <p:sp>
            <p:nvSpPr>
              <p:cNvPr id="15" name="Прямоугольник: скругленные углы 14">
                <a:extLst>
                  <a:ext uri="{FF2B5EF4-FFF2-40B4-BE49-F238E27FC236}">
                    <a16:creationId xmlns:a16="http://schemas.microsoft.com/office/drawing/2014/main" id="{F7FE8065-0896-96E1-35D3-4D8E4D13C8ED}"/>
                  </a:ext>
                </a:extLst>
              </p:cNvPr>
              <p:cNvSpPr/>
              <p:nvPr/>
            </p:nvSpPr>
            <p:spPr>
              <a:xfrm>
                <a:off x="3140764" y="2067338"/>
                <a:ext cx="962108" cy="31010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u-RU" sz="11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Версия 3</a:t>
                </a:r>
              </a:p>
            </p:txBody>
          </p: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0A740EE0-6749-EB71-499C-89E410DB4167}"/>
                  </a:ext>
                </a:extLst>
              </p:cNvPr>
              <p:cNvCxnSpPr>
                <a:stCxn id="10" idx="3"/>
                <a:endCxn id="13" idx="1"/>
              </p:cNvCxnSpPr>
              <p:nvPr/>
            </p:nvCxnSpPr>
            <p:spPr>
              <a:xfrm>
                <a:off x="1653871" y="1387502"/>
                <a:ext cx="1486893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13C7814B-B051-D561-19DC-DF1F0C10C412}"/>
                  </a:ext>
                </a:extLst>
              </p:cNvPr>
              <p:cNvCxnSpPr>
                <a:stCxn id="13" idx="2"/>
                <a:endCxn id="14" idx="0"/>
              </p:cNvCxnSpPr>
              <p:nvPr/>
            </p:nvCxnSpPr>
            <p:spPr>
              <a:xfrm>
                <a:off x="3621818" y="1542552"/>
                <a:ext cx="0" cy="103367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653A52D1-0A09-86DF-C021-C41A71F8CF4E}"/>
                  </a:ext>
                </a:extLst>
              </p:cNvPr>
              <p:cNvCxnSpPr>
                <a:stCxn id="14" idx="2"/>
                <a:endCxn id="15" idx="0"/>
              </p:cNvCxnSpPr>
              <p:nvPr/>
            </p:nvCxnSpPr>
            <p:spPr>
              <a:xfrm>
                <a:off x="3621818" y="1956020"/>
                <a:ext cx="0" cy="111318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61501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94ED6A-3301-9D1C-0D42-AF897AC87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Централизованные системы контроля версий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ABCDED-448E-668A-D80A-8A81C0E78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6401" cy="4351338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/>
              <a:t>Централизованные</a:t>
            </a:r>
            <a:r>
              <a:rPr lang="ru-RU" dirty="0"/>
              <a:t> </a:t>
            </a:r>
            <a:r>
              <a:rPr lang="ru-RU" b="1" dirty="0"/>
              <a:t>СКВ</a:t>
            </a:r>
            <a:r>
              <a:rPr lang="ru-RU" dirty="0"/>
              <a:t> — второе поколение СКВ — в отличие от предшественников поддерживают возможность командной работы. Такие системы предполагают хранение проекта на едином сервере. Чтобы изменить исходный код, разработчик должен скачать с сервера необходимые файлы и исправить их, а затем вернуть эти файлы на сервер. Это позволяет организовать совместную, параллельную работу над проектом, где каждый из разработчиков работает с какой-либо скопированной частью исходного кода.</a:t>
            </a:r>
          </a:p>
          <a:p>
            <a:r>
              <a:rPr lang="ru-RU" dirty="0"/>
              <a:t>Однако такая архитектура также обладает существенными недостатками – уязвимость сервера. В случае сбоя на сервере или проблем с подключением к нему, данные могут быть потеряны или недоступны сразу для всех разработчиков. Также для внесения своих изменений в репозиторий разработчику необходим постоянный сетевой доступ.</a:t>
            </a:r>
          </a:p>
          <a:p>
            <a:r>
              <a:rPr lang="ru-RU" dirty="0"/>
              <a:t>К централизованным СКВ относятся </a:t>
            </a:r>
            <a:r>
              <a:rPr lang="ru-RU" dirty="0" err="1"/>
              <a:t>Subversion</a:t>
            </a:r>
            <a:r>
              <a:rPr lang="ru-RU" dirty="0"/>
              <a:t> (</a:t>
            </a:r>
            <a:r>
              <a:rPr lang="en-US" dirty="0"/>
              <a:t>SVN</a:t>
            </a:r>
            <a:r>
              <a:rPr lang="ru-RU" dirty="0"/>
              <a:t>) и </a:t>
            </a:r>
            <a:r>
              <a:rPr lang="ru-RU" dirty="0" err="1"/>
              <a:t>Perforce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grpSp>
        <p:nvGrpSpPr>
          <p:cNvPr id="26" name="Полотно 1">
            <a:extLst>
              <a:ext uri="{FF2B5EF4-FFF2-40B4-BE49-F238E27FC236}">
                <a16:creationId xmlns:a16="http://schemas.microsoft.com/office/drawing/2014/main" id="{4E255FBE-C82F-E44E-B0DB-D57380479EDA}"/>
              </a:ext>
            </a:extLst>
          </p:cNvPr>
          <p:cNvGrpSpPr/>
          <p:nvPr/>
        </p:nvGrpSpPr>
        <p:grpSpPr>
          <a:xfrm>
            <a:off x="6428913" y="2158754"/>
            <a:ext cx="5486400" cy="3200400"/>
            <a:chOff x="0" y="0"/>
            <a:chExt cx="5486400" cy="3200400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900947EE-AABD-7C3D-82A6-B69E3974EFA1}"/>
                </a:ext>
              </a:extLst>
            </p:cNvPr>
            <p:cNvSpPr/>
            <p:nvPr/>
          </p:nvSpPr>
          <p:spPr>
            <a:xfrm>
              <a:off x="0" y="0"/>
              <a:ext cx="5486400" cy="3200400"/>
            </a:xfrm>
            <a:prstGeom prst="rect">
              <a:avLst/>
            </a:prstGeom>
            <a:solidFill>
              <a:prstClr val="white"/>
            </a:solidFill>
          </p:spPr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A6C67082-80B7-74C0-4DFD-5613F88D0A69}"/>
                </a:ext>
              </a:extLst>
            </p:cNvPr>
            <p:cNvSpPr/>
            <p:nvPr/>
          </p:nvSpPr>
          <p:spPr>
            <a:xfrm>
              <a:off x="214686" y="127221"/>
              <a:ext cx="5128591" cy="2965836"/>
            </a:xfrm>
            <a:prstGeom prst="rect">
              <a:avLst/>
            </a:prstGeom>
            <a:solidFill>
              <a:srgbClr val="5B9BD5">
                <a:alpha val="50000"/>
              </a:srgbClr>
            </a:solidFill>
            <a:ln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29" name="Надпись 1246444326">
              <a:extLst>
                <a:ext uri="{FF2B5EF4-FFF2-40B4-BE49-F238E27FC236}">
                  <a16:creationId xmlns:a16="http://schemas.microsoft.com/office/drawing/2014/main" id="{6F6761FF-96E0-0AEE-E2F9-23B03282D990}"/>
                </a:ext>
              </a:extLst>
            </p:cNvPr>
            <p:cNvSpPr txBox="1"/>
            <p:nvPr/>
          </p:nvSpPr>
          <p:spPr>
            <a:xfrm>
              <a:off x="592758" y="461449"/>
              <a:ext cx="1186180" cy="993776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4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Компьютер 1</a:t>
              </a:r>
              <a:endParaRPr lang="ru-R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Надпись 1940860872">
              <a:extLst>
                <a:ext uri="{FF2B5EF4-FFF2-40B4-BE49-F238E27FC236}">
                  <a16:creationId xmlns:a16="http://schemas.microsoft.com/office/drawing/2014/main" id="{AC469994-860D-E015-02F4-2BDC901039C6}"/>
                </a:ext>
              </a:extLst>
            </p:cNvPr>
            <p:cNvSpPr txBox="1"/>
            <p:nvPr/>
          </p:nvSpPr>
          <p:spPr>
            <a:xfrm>
              <a:off x="592758" y="652117"/>
              <a:ext cx="1134110" cy="2463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Рабочая</a:t>
              </a:r>
              <a:r>
                <a:rPr lang="ru-RU" sz="11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ru-RU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копия</a:t>
              </a:r>
              <a:endParaRPr lang="ru-R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Надпись 110237035">
              <a:extLst>
                <a:ext uri="{FF2B5EF4-FFF2-40B4-BE49-F238E27FC236}">
                  <a16:creationId xmlns:a16="http://schemas.microsoft.com/office/drawing/2014/main" id="{371F1C3F-5178-6A98-E345-DF3AB62B64FD}"/>
                </a:ext>
              </a:extLst>
            </p:cNvPr>
            <p:cNvSpPr txBox="1"/>
            <p:nvPr/>
          </p:nvSpPr>
          <p:spPr>
            <a:xfrm>
              <a:off x="2568269" y="389750"/>
              <a:ext cx="2102485" cy="2425065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4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Центральный сервер СКВ</a:t>
              </a:r>
              <a:endParaRPr lang="ru-RU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FEFF8F5C-5832-5BC8-6AFC-31E8ABFB7773}"/>
                </a:ext>
              </a:extLst>
            </p:cNvPr>
            <p:cNvSpPr/>
            <p:nvPr/>
          </p:nvSpPr>
          <p:spPr>
            <a:xfrm>
              <a:off x="2695492" y="906447"/>
              <a:ext cx="1820849" cy="166977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База данных версий</a:t>
              </a:r>
              <a:endParaRPr lang="ru-R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8FCD8526-F198-3ACC-4835-DB1A4B3E9581}"/>
                </a:ext>
              </a:extLst>
            </p:cNvPr>
            <p:cNvSpPr/>
            <p:nvPr/>
          </p:nvSpPr>
          <p:spPr>
            <a:xfrm>
              <a:off x="3140764" y="1232451"/>
              <a:ext cx="962108" cy="310101"/>
            </a:xfrm>
            <a:prstGeom prst="roundRect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1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Версия 1</a:t>
              </a:r>
            </a:p>
          </p:txBody>
        </p:sp>
        <p:sp>
          <p:nvSpPr>
            <p:cNvPr id="34" name="Прямоугольник: скругленные углы 33">
              <a:extLst>
                <a:ext uri="{FF2B5EF4-FFF2-40B4-BE49-F238E27FC236}">
                  <a16:creationId xmlns:a16="http://schemas.microsoft.com/office/drawing/2014/main" id="{767141AD-45A2-C551-6F53-75154CD53E8B}"/>
                </a:ext>
              </a:extLst>
            </p:cNvPr>
            <p:cNvSpPr/>
            <p:nvPr/>
          </p:nvSpPr>
          <p:spPr>
            <a:xfrm>
              <a:off x="3140764" y="1645919"/>
              <a:ext cx="962108" cy="310101"/>
            </a:xfrm>
            <a:prstGeom prst="roundRect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1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Версия 2</a:t>
              </a:r>
            </a:p>
          </p:txBody>
        </p:sp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6F845B2E-56F1-51AF-49D6-77BE0C528C1E}"/>
                </a:ext>
              </a:extLst>
            </p:cNvPr>
            <p:cNvSpPr/>
            <p:nvPr/>
          </p:nvSpPr>
          <p:spPr>
            <a:xfrm>
              <a:off x="3140764" y="2067338"/>
              <a:ext cx="962108" cy="310101"/>
            </a:xfrm>
            <a:prstGeom prst="roundRect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1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Версия 3</a:t>
              </a:r>
            </a:p>
          </p:txBody>
        </p: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344FE772-50B5-1859-AF2B-95E620F3E413}"/>
                </a:ext>
              </a:extLst>
            </p:cNvPr>
            <p:cNvCxnSpPr/>
            <p:nvPr/>
          </p:nvCxnSpPr>
          <p:spPr>
            <a:xfrm>
              <a:off x="3621818" y="1542552"/>
              <a:ext cx="0" cy="103367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C59BD267-FEF0-33DD-1E25-B3FA7CF4FB92}"/>
                </a:ext>
              </a:extLst>
            </p:cNvPr>
            <p:cNvCxnSpPr/>
            <p:nvPr/>
          </p:nvCxnSpPr>
          <p:spPr>
            <a:xfrm>
              <a:off x="3621818" y="1956020"/>
              <a:ext cx="0" cy="111318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38" name="Надпись 1730906330">
              <a:extLst>
                <a:ext uri="{FF2B5EF4-FFF2-40B4-BE49-F238E27FC236}">
                  <a16:creationId xmlns:a16="http://schemas.microsoft.com/office/drawing/2014/main" id="{E70E5A00-7E72-E5B7-28C9-B678620FCF07}"/>
                </a:ext>
              </a:extLst>
            </p:cNvPr>
            <p:cNvSpPr txBox="1"/>
            <p:nvPr/>
          </p:nvSpPr>
          <p:spPr>
            <a:xfrm>
              <a:off x="592758" y="1725569"/>
              <a:ext cx="1186180" cy="99377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4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Компьютер 2</a:t>
              </a:r>
              <a:endParaRPr lang="ru-R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Надпись 220214095">
              <a:extLst>
                <a:ext uri="{FF2B5EF4-FFF2-40B4-BE49-F238E27FC236}">
                  <a16:creationId xmlns:a16="http://schemas.microsoft.com/office/drawing/2014/main" id="{7311CC49-2468-621A-BC6E-692F915409A6}"/>
                </a:ext>
              </a:extLst>
            </p:cNvPr>
            <p:cNvSpPr txBox="1"/>
            <p:nvPr/>
          </p:nvSpPr>
          <p:spPr>
            <a:xfrm>
              <a:off x="612247" y="1948069"/>
              <a:ext cx="1134110" cy="2463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Рабочая</a:t>
              </a:r>
              <a:r>
                <a:rPr lang="ru-RU" sz="11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ru-RU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копия</a:t>
              </a:r>
              <a:endParaRPr lang="ru-R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Прямоугольник: скругленные углы 39">
              <a:extLst>
                <a:ext uri="{FF2B5EF4-FFF2-40B4-BE49-F238E27FC236}">
                  <a16:creationId xmlns:a16="http://schemas.microsoft.com/office/drawing/2014/main" id="{0EE7B946-A7FF-DD9E-6058-5FB3B5FC1A50}"/>
                </a:ext>
              </a:extLst>
            </p:cNvPr>
            <p:cNvSpPr/>
            <p:nvPr/>
          </p:nvSpPr>
          <p:spPr>
            <a:xfrm>
              <a:off x="691763" y="2202398"/>
              <a:ext cx="962108" cy="310101"/>
            </a:xfrm>
            <a:prstGeom prst="roundRect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Файл</a:t>
              </a:r>
              <a:endParaRPr lang="ru-R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9CF93FDE-5A0D-7911-37C1-8B78F3CAD823}"/>
                </a:ext>
              </a:extLst>
            </p:cNvPr>
            <p:cNvSpPr/>
            <p:nvPr/>
          </p:nvSpPr>
          <p:spPr>
            <a:xfrm>
              <a:off x="691763" y="985848"/>
              <a:ext cx="962108" cy="310101"/>
            </a:xfrm>
            <a:prstGeom prst="roundRect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Файл</a:t>
              </a:r>
              <a:endParaRPr lang="ru-R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2" name="Прямая со стрелкой 41">
              <a:extLst>
                <a:ext uri="{FF2B5EF4-FFF2-40B4-BE49-F238E27FC236}">
                  <a16:creationId xmlns:a16="http://schemas.microsoft.com/office/drawing/2014/main" id="{995DD154-6796-7562-4AAF-20E4815D0599}"/>
                </a:ext>
              </a:extLst>
            </p:cNvPr>
            <p:cNvCxnSpPr>
              <a:endCxn id="29" idx="3"/>
            </p:cNvCxnSpPr>
            <p:nvPr/>
          </p:nvCxnSpPr>
          <p:spPr>
            <a:xfrm flipH="1" flipV="1">
              <a:off x="1778938" y="958337"/>
              <a:ext cx="916554" cy="33761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 стрелкой 42">
              <a:extLst>
                <a:ext uri="{FF2B5EF4-FFF2-40B4-BE49-F238E27FC236}">
                  <a16:creationId xmlns:a16="http://schemas.microsoft.com/office/drawing/2014/main" id="{937F41DD-2047-2BBD-FBA4-C7FA48EBC3A5}"/>
                </a:ext>
              </a:extLst>
            </p:cNvPr>
            <p:cNvCxnSpPr>
              <a:endCxn id="38" idx="3"/>
            </p:cNvCxnSpPr>
            <p:nvPr/>
          </p:nvCxnSpPr>
          <p:spPr>
            <a:xfrm flipH="1">
              <a:off x="1778938" y="1995778"/>
              <a:ext cx="916554" cy="2266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5561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DF9B1B-BE58-C8BB-484C-15B78F88A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Распределенные системы контроля версий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9B9B12-2154-D300-1CCD-2D867D94D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0860" cy="4351338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В распределенной СКВ все копии репозитория считаются равными, нет центрального репозитория. Центральный сервер может использоваться как хранилище, но не является обязательным элементом архитектуры. Это позволяет делать коммиты, ветви и слияния, которые создаются локально без доступа к сети и перемещаются в другие репозитории по мере необходимости. </a:t>
            </a:r>
          </a:p>
          <a:p>
            <a:r>
              <a:rPr lang="ru-RU" dirty="0"/>
              <a:t>Системы распределенного типа позволили избавиться от основного недостатка централизованных СКВ — уязвимости сервера. В распределенной версии СКВ каждый разработчик скачивает с сервера не только нужный ему файл, но и весь набор данных. Таким образом, при сбое на сервере восстановить данные можно будет с компьютера любого из разработчиков.</a:t>
            </a:r>
          </a:p>
          <a:p>
            <a:r>
              <a:rPr lang="ru-RU" dirty="0"/>
              <a:t>К таким системам относится разработанный в 2003 году </a:t>
            </a:r>
            <a:r>
              <a:rPr lang="ru-RU" dirty="0" err="1"/>
              <a:t>Darcs</a:t>
            </a:r>
            <a:r>
              <a:rPr lang="ru-RU" dirty="0"/>
              <a:t>, а также </a:t>
            </a:r>
            <a:r>
              <a:rPr lang="ru-RU" dirty="0" err="1"/>
              <a:t>Git</a:t>
            </a:r>
            <a:r>
              <a:rPr lang="ru-RU" dirty="0"/>
              <a:t>, </a:t>
            </a:r>
            <a:r>
              <a:rPr lang="ru-RU" dirty="0" err="1"/>
              <a:t>Mercurial</a:t>
            </a:r>
            <a:r>
              <a:rPr lang="ru-RU" dirty="0"/>
              <a:t> и Bazaar, разработанные в 2005 году, </a:t>
            </a:r>
            <a:r>
              <a:rPr lang="ru-RU" dirty="0" err="1"/>
              <a:t>Fossil</a:t>
            </a:r>
            <a:r>
              <a:rPr lang="ru-RU" dirty="0"/>
              <a:t>, разработанный в 2006 году.</a:t>
            </a:r>
          </a:p>
          <a:p>
            <a:r>
              <a:rPr lang="ru-RU" dirty="0"/>
              <a:t>В настоящее время системы контроля версий такого типа используются чаще всего и являются стандартом в командной разработке ПО. </a:t>
            </a:r>
          </a:p>
          <a:p>
            <a:endParaRPr lang="ru-RU" dirty="0"/>
          </a:p>
        </p:txBody>
      </p:sp>
      <p:grpSp>
        <p:nvGrpSpPr>
          <p:cNvPr id="5" name="Полотно 1">
            <a:extLst>
              <a:ext uri="{FF2B5EF4-FFF2-40B4-BE49-F238E27FC236}">
                <a16:creationId xmlns:a16="http://schemas.microsoft.com/office/drawing/2014/main" id="{74DCA1CA-C378-6E12-9E12-742EDC1064DD}"/>
              </a:ext>
            </a:extLst>
          </p:cNvPr>
          <p:cNvGrpSpPr/>
          <p:nvPr/>
        </p:nvGrpSpPr>
        <p:grpSpPr>
          <a:xfrm>
            <a:off x="6269114" y="1825625"/>
            <a:ext cx="5486400" cy="3200400"/>
            <a:chOff x="0" y="0"/>
            <a:chExt cx="5486400" cy="3200400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073160E-332E-5E17-3630-9AEDD8D32959}"/>
                </a:ext>
              </a:extLst>
            </p:cNvPr>
            <p:cNvSpPr/>
            <p:nvPr/>
          </p:nvSpPr>
          <p:spPr>
            <a:xfrm>
              <a:off x="0" y="0"/>
              <a:ext cx="5486400" cy="3200400"/>
            </a:xfrm>
            <a:prstGeom prst="rect">
              <a:avLst/>
            </a:prstGeom>
            <a:solidFill>
              <a:prstClr val="white"/>
            </a:solidFill>
          </p:spPr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9D16789-9BAB-E050-E6DC-3E9064BD2388}"/>
                </a:ext>
              </a:extLst>
            </p:cNvPr>
            <p:cNvSpPr/>
            <p:nvPr/>
          </p:nvSpPr>
          <p:spPr>
            <a:xfrm>
              <a:off x="214686" y="127221"/>
              <a:ext cx="5128591" cy="2965836"/>
            </a:xfrm>
            <a:prstGeom prst="rect">
              <a:avLst/>
            </a:prstGeom>
            <a:solidFill>
              <a:srgbClr val="5B9BD5">
                <a:alpha val="50000"/>
              </a:srgbClr>
            </a:solidFill>
            <a:ln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8" name="Надпись 1415727420">
              <a:extLst>
                <a:ext uri="{FF2B5EF4-FFF2-40B4-BE49-F238E27FC236}">
                  <a16:creationId xmlns:a16="http://schemas.microsoft.com/office/drawing/2014/main" id="{E0BCC10B-E8A8-7392-E815-2EA13266F2BF}"/>
                </a:ext>
              </a:extLst>
            </p:cNvPr>
            <p:cNvSpPr txBox="1"/>
            <p:nvPr/>
          </p:nvSpPr>
          <p:spPr>
            <a:xfrm>
              <a:off x="1645918" y="270369"/>
              <a:ext cx="2102485" cy="850653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4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Центральный сервер СКВ</a:t>
              </a:r>
              <a:endParaRPr lang="ru-RU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3FCACEE0-19AE-DB75-0411-4D97D64D179B}"/>
                </a:ext>
              </a:extLst>
            </p:cNvPr>
            <p:cNvSpPr/>
            <p:nvPr/>
          </p:nvSpPr>
          <p:spPr>
            <a:xfrm>
              <a:off x="1804946" y="596348"/>
              <a:ext cx="1820849" cy="38950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База данных версий</a:t>
              </a:r>
              <a:endParaRPr lang="ru-R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Надпись 1">
              <a:extLst>
                <a:ext uri="{FF2B5EF4-FFF2-40B4-BE49-F238E27FC236}">
                  <a16:creationId xmlns:a16="http://schemas.microsoft.com/office/drawing/2014/main" id="{B317D15B-E00E-6088-0B86-9363D91FFB5C}"/>
                </a:ext>
              </a:extLst>
            </p:cNvPr>
            <p:cNvSpPr txBox="1"/>
            <p:nvPr/>
          </p:nvSpPr>
          <p:spPr>
            <a:xfrm>
              <a:off x="459738" y="1658941"/>
              <a:ext cx="1186180" cy="133870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ru-RU" sz="14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Компьютер 1</a:t>
              </a:r>
              <a:endParaRPr lang="ru-R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Надпись 1">
              <a:extLst>
                <a:ext uri="{FF2B5EF4-FFF2-40B4-BE49-F238E27FC236}">
                  <a16:creationId xmlns:a16="http://schemas.microsoft.com/office/drawing/2014/main" id="{63539EDA-7351-6839-E261-DDBB67ABDB49}"/>
                </a:ext>
              </a:extLst>
            </p:cNvPr>
            <p:cNvSpPr txBox="1"/>
            <p:nvPr/>
          </p:nvSpPr>
          <p:spPr>
            <a:xfrm>
              <a:off x="3724550" y="1650991"/>
              <a:ext cx="1186180" cy="134665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ru-RU" sz="14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Компьютер 3</a:t>
              </a:r>
              <a:endParaRPr lang="ru-RU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Надпись 1">
              <a:extLst>
                <a:ext uri="{FF2B5EF4-FFF2-40B4-BE49-F238E27FC236}">
                  <a16:creationId xmlns:a16="http://schemas.microsoft.com/office/drawing/2014/main" id="{3A1DC4B0-C37C-43E7-B3E5-19EECB7590B5}"/>
                </a:ext>
              </a:extLst>
            </p:cNvPr>
            <p:cNvSpPr txBox="1"/>
            <p:nvPr/>
          </p:nvSpPr>
          <p:spPr>
            <a:xfrm>
              <a:off x="2102483" y="1648109"/>
              <a:ext cx="1186180" cy="134953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ru-RU" sz="14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Компьютер 2</a:t>
              </a:r>
              <a:endParaRPr lang="ru-R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BB7815DF-5FD0-7366-6A13-3F200DC63BE6}"/>
                </a:ext>
              </a:extLst>
            </p:cNvPr>
            <p:cNvSpPr/>
            <p:nvPr/>
          </p:nvSpPr>
          <p:spPr>
            <a:xfrm>
              <a:off x="492982" y="1971921"/>
              <a:ext cx="1116000" cy="288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Рабочая копия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FE5DD8C6-6352-9BC6-7678-C4A519FDCF5E}"/>
                </a:ext>
              </a:extLst>
            </p:cNvPr>
            <p:cNvSpPr/>
            <p:nvPr/>
          </p:nvSpPr>
          <p:spPr>
            <a:xfrm>
              <a:off x="2142238" y="1971921"/>
              <a:ext cx="1116000" cy="288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Рабочая копия</a:t>
              </a:r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C6354A33-0F6C-A3F2-2531-9BF81A088321}"/>
                </a:ext>
              </a:extLst>
            </p:cNvPr>
            <p:cNvSpPr/>
            <p:nvPr/>
          </p:nvSpPr>
          <p:spPr>
            <a:xfrm>
              <a:off x="3762926" y="1971921"/>
              <a:ext cx="1116000" cy="288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Рабочая копия</a:t>
              </a: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5741DD1D-E1FF-2A3A-647B-0F8EE430D60C}"/>
                </a:ext>
              </a:extLst>
            </p:cNvPr>
            <p:cNvSpPr/>
            <p:nvPr/>
          </p:nvSpPr>
          <p:spPr>
            <a:xfrm>
              <a:off x="3754975" y="2484305"/>
              <a:ext cx="1116000" cy="44177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База данных версий</a:t>
              </a: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CB48FE16-3996-463F-0DED-92B7C6F38B42}"/>
                </a:ext>
              </a:extLst>
            </p:cNvPr>
            <p:cNvSpPr/>
            <p:nvPr/>
          </p:nvSpPr>
          <p:spPr>
            <a:xfrm>
              <a:off x="2142238" y="2484306"/>
              <a:ext cx="1116000" cy="44177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База данных версий</a:t>
              </a: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7DFC3B19-3739-336E-7567-D1D404A83C57}"/>
                </a:ext>
              </a:extLst>
            </p:cNvPr>
            <p:cNvSpPr/>
            <p:nvPr/>
          </p:nvSpPr>
          <p:spPr>
            <a:xfrm>
              <a:off x="491542" y="2476356"/>
              <a:ext cx="1116000" cy="44177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ru-RU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База данных версий</a:t>
              </a:r>
            </a:p>
          </p:txBody>
        </p:sp>
        <p:cxnSp>
          <p:nvCxnSpPr>
            <p:cNvPr id="19" name="Прямая со стрелкой 18">
              <a:extLst>
                <a:ext uri="{FF2B5EF4-FFF2-40B4-BE49-F238E27FC236}">
                  <a16:creationId xmlns:a16="http://schemas.microsoft.com/office/drawing/2014/main" id="{D741DE75-ED61-1542-5605-D5CAA1A1DB74}"/>
                </a:ext>
              </a:extLst>
            </p:cNvPr>
            <p:cNvCxnSpPr>
              <a:stCxn id="8" idx="1"/>
              <a:endCxn id="10" idx="0"/>
            </p:cNvCxnSpPr>
            <p:nvPr/>
          </p:nvCxnSpPr>
          <p:spPr>
            <a:xfrm flipH="1">
              <a:off x="1052828" y="695696"/>
              <a:ext cx="593090" cy="96324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>
              <a:extLst>
                <a:ext uri="{FF2B5EF4-FFF2-40B4-BE49-F238E27FC236}">
                  <a16:creationId xmlns:a16="http://schemas.microsoft.com/office/drawing/2014/main" id="{DC4A5FE3-6677-03CA-81AF-36AB0DDAEC83}"/>
                </a:ext>
              </a:extLst>
            </p:cNvPr>
            <p:cNvCxnSpPr/>
            <p:nvPr/>
          </p:nvCxnSpPr>
          <p:spPr>
            <a:xfrm flipV="1">
              <a:off x="1216550" y="922351"/>
              <a:ext cx="429368" cy="73659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 стрелкой 20">
              <a:extLst>
                <a:ext uri="{FF2B5EF4-FFF2-40B4-BE49-F238E27FC236}">
                  <a16:creationId xmlns:a16="http://schemas.microsoft.com/office/drawing/2014/main" id="{540188FD-5D3C-55DC-FC49-322F08C3C9A4}"/>
                </a:ext>
              </a:extLst>
            </p:cNvPr>
            <p:cNvCxnSpPr/>
            <p:nvPr/>
          </p:nvCxnSpPr>
          <p:spPr>
            <a:xfrm>
              <a:off x="858741" y="2259921"/>
              <a:ext cx="0" cy="2164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>
              <a:extLst>
                <a:ext uri="{FF2B5EF4-FFF2-40B4-BE49-F238E27FC236}">
                  <a16:creationId xmlns:a16="http://schemas.microsoft.com/office/drawing/2014/main" id="{11850EC5-FD91-8780-011C-F001B4447EE6}"/>
                </a:ext>
              </a:extLst>
            </p:cNvPr>
            <p:cNvCxnSpPr/>
            <p:nvPr/>
          </p:nvCxnSpPr>
          <p:spPr>
            <a:xfrm flipV="1">
              <a:off x="1216550" y="2259921"/>
              <a:ext cx="0" cy="22438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 стрелкой 22">
              <a:extLst>
                <a:ext uri="{FF2B5EF4-FFF2-40B4-BE49-F238E27FC236}">
                  <a16:creationId xmlns:a16="http://schemas.microsoft.com/office/drawing/2014/main" id="{F019FB42-51E4-E103-6B34-A27356B50740}"/>
                </a:ext>
              </a:extLst>
            </p:cNvPr>
            <p:cNvCxnSpPr/>
            <p:nvPr/>
          </p:nvCxnSpPr>
          <p:spPr>
            <a:xfrm>
              <a:off x="2512613" y="1121022"/>
              <a:ext cx="0" cy="52708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 стрелкой 23">
              <a:extLst>
                <a:ext uri="{FF2B5EF4-FFF2-40B4-BE49-F238E27FC236}">
                  <a16:creationId xmlns:a16="http://schemas.microsoft.com/office/drawing/2014/main" id="{64558D29-C5E1-1F42-F840-98D957321F89}"/>
                </a:ext>
              </a:extLst>
            </p:cNvPr>
            <p:cNvCxnSpPr/>
            <p:nvPr/>
          </p:nvCxnSpPr>
          <p:spPr>
            <a:xfrm flipV="1">
              <a:off x="2854519" y="1121022"/>
              <a:ext cx="0" cy="52708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>
              <a:extLst>
                <a:ext uri="{FF2B5EF4-FFF2-40B4-BE49-F238E27FC236}">
                  <a16:creationId xmlns:a16="http://schemas.microsoft.com/office/drawing/2014/main" id="{68200AE8-F0C2-F0C3-FAFA-51CB0D187A89}"/>
                </a:ext>
              </a:extLst>
            </p:cNvPr>
            <p:cNvCxnSpPr>
              <a:endCxn id="11" idx="0"/>
            </p:cNvCxnSpPr>
            <p:nvPr/>
          </p:nvCxnSpPr>
          <p:spPr>
            <a:xfrm>
              <a:off x="3754975" y="695696"/>
              <a:ext cx="562665" cy="95529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>
              <a:extLst>
                <a:ext uri="{FF2B5EF4-FFF2-40B4-BE49-F238E27FC236}">
                  <a16:creationId xmlns:a16="http://schemas.microsoft.com/office/drawing/2014/main" id="{8C9EBE9F-8634-A609-21A4-512855DEA371}"/>
                </a:ext>
              </a:extLst>
            </p:cNvPr>
            <p:cNvCxnSpPr/>
            <p:nvPr/>
          </p:nvCxnSpPr>
          <p:spPr>
            <a:xfrm flipH="1" flipV="1">
              <a:off x="3754975" y="922351"/>
              <a:ext cx="403558" cy="72575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>
              <a:extLst>
                <a:ext uri="{FF2B5EF4-FFF2-40B4-BE49-F238E27FC236}">
                  <a16:creationId xmlns:a16="http://schemas.microsoft.com/office/drawing/2014/main" id="{BD1301AA-75FC-DCED-1943-DE747A9C61A2}"/>
                </a:ext>
              </a:extLst>
            </p:cNvPr>
            <p:cNvCxnSpPr/>
            <p:nvPr/>
          </p:nvCxnSpPr>
          <p:spPr>
            <a:xfrm>
              <a:off x="2512613" y="2259921"/>
              <a:ext cx="0" cy="2164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30892477-37F5-FBE6-C763-D0BCD475D185}"/>
                </a:ext>
              </a:extLst>
            </p:cNvPr>
            <p:cNvCxnSpPr/>
            <p:nvPr/>
          </p:nvCxnSpPr>
          <p:spPr>
            <a:xfrm flipV="1">
              <a:off x="2854519" y="2259921"/>
              <a:ext cx="0" cy="22438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>
              <a:extLst>
                <a:ext uri="{FF2B5EF4-FFF2-40B4-BE49-F238E27FC236}">
                  <a16:creationId xmlns:a16="http://schemas.microsoft.com/office/drawing/2014/main" id="{985F12D6-1AEB-DF05-608A-06A15D34E6BE}"/>
                </a:ext>
              </a:extLst>
            </p:cNvPr>
            <p:cNvCxnSpPr/>
            <p:nvPr/>
          </p:nvCxnSpPr>
          <p:spPr>
            <a:xfrm>
              <a:off x="4158533" y="2259921"/>
              <a:ext cx="0" cy="2164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014005DD-13F7-3248-8B73-852555B9AAEC}"/>
                </a:ext>
              </a:extLst>
            </p:cNvPr>
            <p:cNvCxnSpPr/>
            <p:nvPr/>
          </p:nvCxnSpPr>
          <p:spPr>
            <a:xfrm flipV="1">
              <a:off x="4492487" y="2259921"/>
              <a:ext cx="0" cy="22438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1479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025908-02B8-E146-5D36-85D0FAE5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u="sng" dirty="0"/>
              <a:t>Обзор популярных СКВ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A923A1-5A7B-8BA2-C20C-62E6AFECE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Сейчас системы контроля версий используются практически в каждом проекте по разработке ПО. Чаще всего при командной разработке применяются системы  </a:t>
            </a:r>
            <a:r>
              <a:rPr lang="ru-RU" dirty="0" err="1"/>
              <a:t>Git</a:t>
            </a:r>
            <a:r>
              <a:rPr lang="ru-RU" dirty="0"/>
              <a:t>, </a:t>
            </a:r>
            <a:r>
              <a:rPr lang="ru-RU" dirty="0" err="1"/>
              <a:t>Subversion</a:t>
            </a:r>
            <a:r>
              <a:rPr lang="ru-RU" dirty="0"/>
              <a:t> (SVN) и </a:t>
            </a:r>
            <a:r>
              <a:rPr lang="ru-RU" dirty="0" err="1"/>
              <a:t>Mercurial</a:t>
            </a:r>
            <a:r>
              <a:rPr lang="ru-RU" dirty="0"/>
              <a:t>, однако для работы над личными проектами могут быть отдано предпочтение локальным СКВ.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878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7304EA-5596-2F72-7B34-8819F3FE9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 err="1"/>
              <a:t>Git</a:t>
            </a:r>
            <a:br>
              <a:rPr lang="ru-RU" b="1" i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40C02D-FEEC-1FFA-A206-DB404CEB4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b="1" dirty="0"/>
              <a:t>Основные особенности </a:t>
            </a:r>
            <a:r>
              <a:rPr lang="ru-RU" b="1" dirty="0" err="1"/>
              <a:t>Git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u="sng" dirty="0"/>
              <a:t>Распределенная архитектура.</a:t>
            </a:r>
            <a:r>
              <a:rPr lang="ru-RU" dirty="0"/>
              <a:t> Каждый разработчик имеет полную копию репозитория, что позволяет работать автономно и синхронизировать изменения позже. Это особенно полезно в условиях, когда доступ к интернету ограничен или нестабилен, так как разработчики могут продолжать работу без подключения к центральному серверу.</a:t>
            </a:r>
          </a:p>
          <a:p>
            <a:pPr lvl="0"/>
            <a:r>
              <a:rPr lang="ru-RU" u="sng" dirty="0"/>
              <a:t>Быстрота и эффективность.</a:t>
            </a:r>
            <a:r>
              <a:rPr lang="ru-RU" dirty="0"/>
              <a:t> </a:t>
            </a:r>
            <a:r>
              <a:rPr lang="ru-RU" dirty="0" err="1"/>
              <a:t>Git</a:t>
            </a:r>
            <a:r>
              <a:rPr lang="ru-RU" dirty="0"/>
              <a:t> оптимизирован для работы с большими проектами и обеспечивает высокую скорость выполнения операций. Это достигается за счет использования эффективных алгоритмов сжатия данных и хранения изменений.</a:t>
            </a:r>
          </a:p>
          <a:p>
            <a:pPr lvl="0"/>
            <a:r>
              <a:rPr lang="ru-RU" u="sng" dirty="0"/>
              <a:t>Мощные инструменты ветвления и слияния.</a:t>
            </a:r>
            <a:r>
              <a:rPr lang="ru-RU" dirty="0"/>
              <a:t> </a:t>
            </a:r>
            <a:r>
              <a:rPr lang="ru-RU" dirty="0" err="1"/>
              <a:t>Git</a:t>
            </a:r>
            <a:r>
              <a:rPr lang="ru-RU" dirty="0"/>
              <a:t> позволяет легко создавать и управлять ветками, что упрощает работу над новыми функциями и исправлениями. Ветвление в </a:t>
            </a:r>
            <a:r>
              <a:rPr lang="ru-RU" dirty="0" err="1"/>
              <a:t>Git</a:t>
            </a:r>
            <a:r>
              <a:rPr lang="ru-RU" dirty="0"/>
              <a:t> является легковесным процессом, что позволяет разработчикам экспериментировать с новыми идеями без риска повредить основную кодовую базу.</a:t>
            </a:r>
          </a:p>
          <a:p>
            <a:r>
              <a:rPr lang="ru-RU" b="1" dirty="0"/>
              <a:t>Преимущества </a:t>
            </a:r>
            <a:r>
              <a:rPr lang="ru-RU" b="1" dirty="0" err="1"/>
              <a:t>Git</a:t>
            </a:r>
            <a:endParaRPr lang="ru-RU" dirty="0"/>
          </a:p>
          <a:p>
            <a:pPr lvl="0"/>
            <a:r>
              <a:rPr lang="ru-RU" u="sng" dirty="0"/>
              <a:t>Гибкость.</a:t>
            </a:r>
            <a:r>
              <a:rPr lang="ru-RU" dirty="0"/>
              <a:t> Поддержка различных рабочих процессов, таких как </a:t>
            </a:r>
            <a:r>
              <a:rPr lang="ru-RU" dirty="0" err="1"/>
              <a:t>Gitflow</a:t>
            </a:r>
            <a:r>
              <a:rPr lang="ru-RU" dirty="0"/>
              <a:t>, </a:t>
            </a:r>
            <a:r>
              <a:rPr lang="ru-RU" dirty="0" err="1"/>
              <a:t>GitHub</a:t>
            </a:r>
            <a:r>
              <a:rPr lang="ru-RU" dirty="0"/>
              <a:t> </a:t>
            </a:r>
            <a:r>
              <a:rPr lang="ru-RU" dirty="0" err="1"/>
              <a:t>Flow</a:t>
            </a:r>
            <a:r>
              <a:rPr lang="ru-RU" dirty="0"/>
              <a:t> и другие. Это позволяет командам выбирать наиболее подходящий подход к разработке, будь то линейный процесс или более сложные схемы с множеством веток.</a:t>
            </a:r>
          </a:p>
          <a:p>
            <a:pPr lvl="0"/>
            <a:r>
              <a:rPr lang="ru-RU" u="sng" dirty="0"/>
              <a:t>Широкая поддержка.</a:t>
            </a:r>
            <a:r>
              <a:rPr lang="ru-RU" dirty="0"/>
              <a:t> Большое количество инструментов и интеграций, например, </a:t>
            </a:r>
            <a:r>
              <a:rPr lang="ru-RU" dirty="0" err="1"/>
              <a:t>GitHub</a:t>
            </a:r>
            <a:r>
              <a:rPr lang="ru-RU" dirty="0"/>
              <a:t>, </a:t>
            </a:r>
            <a:r>
              <a:rPr lang="ru-RU" dirty="0" err="1"/>
              <a:t>GitLab</a:t>
            </a:r>
            <a:r>
              <a:rPr lang="ru-RU" dirty="0"/>
              <a:t>, </a:t>
            </a:r>
            <a:r>
              <a:rPr lang="ru-RU" dirty="0" err="1"/>
              <a:t>Bitbucket</a:t>
            </a:r>
            <a:r>
              <a:rPr lang="ru-RU" dirty="0"/>
              <a:t> и многие другие. </a:t>
            </a:r>
            <a:r>
              <a:rPr lang="ru-RU" dirty="0" err="1"/>
              <a:t>Git</a:t>
            </a:r>
            <a:r>
              <a:rPr lang="ru-RU" dirty="0"/>
              <a:t> также можно интегрировать во многих средах разработки.</a:t>
            </a:r>
          </a:p>
          <a:p>
            <a:pPr lvl="0"/>
            <a:r>
              <a:rPr lang="ru-RU" u="sng" dirty="0"/>
              <a:t>Сообщество.</a:t>
            </a:r>
            <a:r>
              <a:rPr lang="ru-RU" dirty="0"/>
              <a:t> Активное сообщество разработчиков и множество обучающих материалов. Это означает, что для решения любой проблемы можно найти множество ресурсов, будь то документация, форумы или обучающие видео.</a:t>
            </a:r>
          </a:p>
          <a:p>
            <a:r>
              <a:rPr lang="ru-RU" b="1" dirty="0"/>
              <a:t>Недостатки </a:t>
            </a:r>
            <a:r>
              <a:rPr lang="ru-RU" b="1" dirty="0" err="1"/>
              <a:t>Git</a:t>
            </a:r>
            <a:endParaRPr lang="ru-RU" dirty="0"/>
          </a:p>
          <a:p>
            <a:pPr lvl="0"/>
            <a:r>
              <a:rPr lang="ru-RU" u="sng" dirty="0"/>
              <a:t>Сложность обучения.</a:t>
            </a:r>
            <a:r>
              <a:rPr lang="ru-RU" dirty="0"/>
              <a:t> </a:t>
            </a:r>
            <a:r>
              <a:rPr lang="ru-RU" dirty="0" err="1"/>
              <a:t>Git</a:t>
            </a:r>
            <a:r>
              <a:rPr lang="ru-RU" dirty="0"/>
              <a:t> может показаться сложным из-за большого количества команд и опций. Это может потребоваться значительное временя на освоение, особенно если команда не имеет опыта работы с распределенными системами контроля версий.</a:t>
            </a:r>
          </a:p>
          <a:p>
            <a:pPr lvl="0"/>
            <a:r>
              <a:rPr lang="ru-RU" u="sng" dirty="0"/>
              <a:t>Проблемы с большими файлами.</a:t>
            </a:r>
            <a:r>
              <a:rPr lang="ru-RU" dirty="0"/>
              <a:t> </a:t>
            </a:r>
            <a:r>
              <a:rPr lang="ru-RU" dirty="0" err="1"/>
              <a:t>Git</a:t>
            </a:r>
            <a:r>
              <a:rPr lang="ru-RU" dirty="0"/>
              <a:t> не оптимизирован для работы с большими двоичными файлами, хотя существуют решения, такие как </a:t>
            </a:r>
            <a:r>
              <a:rPr lang="ru-RU" dirty="0" err="1"/>
              <a:t>Git</a:t>
            </a:r>
            <a:r>
              <a:rPr lang="ru-RU" dirty="0"/>
              <a:t> LFS. Это может быть ограничением для проектов, включающих большие медиафайлы или бинарные артефакты.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1378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3FFC46-44BC-025A-EA88-9329096D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 err="1"/>
              <a:t>Subversion</a:t>
            </a:r>
            <a:r>
              <a:rPr lang="ru-RU" b="1" i="1" dirty="0"/>
              <a:t> (SVN)</a:t>
            </a:r>
            <a:br>
              <a:rPr lang="ru-RU" b="1" i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473A4B-B5CA-D40E-CC38-9023E446C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ru-RU" b="1" dirty="0"/>
              <a:t>Основные особенности SVN</a:t>
            </a:r>
            <a:endParaRPr lang="ru-RU" dirty="0"/>
          </a:p>
          <a:p>
            <a:pPr lvl="0"/>
            <a:r>
              <a:rPr lang="ru-RU" u="sng" dirty="0"/>
              <a:t>Централизованная архитектура.</a:t>
            </a:r>
            <a:r>
              <a:rPr lang="ru-RU" dirty="0"/>
              <a:t> Все данные хранятся на центральном сервере, и разработчики получают доступ к репозиторию через сеть. Это упрощает управление доступом и обеспечивает централизованный контроль над всеми изменениями.</a:t>
            </a:r>
          </a:p>
          <a:p>
            <a:pPr lvl="0"/>
            <a:r>
              <a:rPr lang="ru-RU" u="sng" dirty="0"/>
              <a:t>Простота использования.</a:t>
            </a:r>
            <a:r>
              <a:rPr lang="ru-RU" dirty="0"/>
              <a:t> Интерфейс и команды SVN проще для понимания новичками. Это делает SVN хорошим выбором для небольших команд или проектов, где важна простота и предсказуемость.</a:t>
            </a:r>
          </a:p>
          <a:p>
            <a:pPr lvl="0"/>
            <a:r>
              <a:rPr lang="ru-RU" u="sng" dirty="0"/>
              <a:t>Атомарные коммиты.</a:t>
            </a:r>
            <a:r>
              <a:rPr lang="ru-RU" dirty="0"/>
              <a:t> Все изменения вносятся в репозиторий как единое целое, что предотвращает частичные обновления. Это обеспечивает целостность данных и упрощает откат изменений в случае необходимости.</a:t>
            </a:r>
          </a:p>
          <a:p>
            <a:r>
              <a:rPr lang="ru-RU" b="1" dirty="0"/>
              <a:t>Преимущества SVN</a:t>
            </a:r>
            <a:endParaRPr lang="ru-RU" dirty="0"/>
          </a:p>
          <a:p>
            <a:pPr lvl="0"/>
            <a:r>
              <a:rPr lang="ru-RU" u="sng" dirty="0"/>
              <a:t>Простота.</a:t>
            </a:r>
            <a:r>
              <a:rPr lang="ru-RU" dirty="0"/>
              <a:t> Легкость в освоении и использовании для небольших проектов. Это позволяет новым членам команды быстро начать работу без необходимости долгого обучения.</a:t>
            </a:r>
          </a:p>
          <a:p>
            <a:pPr lvl="0"/>
            <a:r>
              <a:rPr lang="ru-RU" u="sng" dirty="0"/>
              <a:t>Поддержка больших файлов.</a:t>
            </a:r>
            <a:r>
              <a:rPr lang="ru-RU" dirty="0"/>
              <a:t> SVN лучше справляется с большими файлами по сравнению с </a:t>
            </a:r>
            <a:r>
              <a:rPr lang="ru-RU" dirty="0" err="1"/>
              <a:t>Git</a:t>
            </a:r>
            <a:r>
              <a:rPr lang="ru-RU" dirty="0"/>
              <a:t>. Это делает его подходящим для проектов, включающих большие медиафайлы или бинарные артефакты.</a:t>
            </a:r>
          </a:p>
          <a:p>
            <a:pPr lvl="0"/>
            <a:r>
              <a:rPr lang="ru-RU" u="sng" dirty="0"/>
              <a:t>Мощные инструменты для управления доступом.</a:t>
            </a:r>
            <a:r>
              <a:rPr lang="ru-RU" dirty="0"/>
              <a:t> Гибкие настройки прав доступа к репозиторию. Это позволяет администраторам точно контролировать, кто и какие изменения может вносить в проект.</a:t>
            </a:r>
          </a:p>
          <a:p>
            <a:r>
              <a:rPr lang="ru-RU" b="1" dirty="0"/>
              <a:t>Недостатки SVN</a:t>
            </a:r>
            <a:endParaRPr lang="ru-RU" dirty="0"/>
          </a:p>
          <a:p>
            <a:pPr lvl="0"/>
            <a:r>
              <a:rPr lang="ru-RU" u="sng" dirty="0"/>
              <a:t>Ограниченная гибкость.</a:t>
            </a:r>
            <a:r>
              <a:rPr lang="ru-RU" dirty="0"/>
              <a:t> Централизованная архитектура ограничивает возможности автономной работы. Это может быть проблемой для распределенных команд или проектов, требующих высокой степени независимости разработчиков.</a:t>
            </a:r>
          </a:p>
          <a:p>
            <a:pPr lvl="0"/>
            <a:r>
              <a:rPr lang="ru-RU" u="sng" dirty="0"/>
              <a:t>Скорость.</a:t>
            </a:r>
            <a:r>
              <a:rPr lang="ru-RU" dirty="0"/>
              <a:t> Некоторые операции могут быть медленнее по сравнению с </a:t>
            </a:r>
            <a:r>
              <a:rPr lang="ru-RU" dirty="0" err="1"/>
              <a:t>Git</a:t>
            </a:r>
            <a:r>
              <a:rPr lang="ru-RU" dirty="0"/>
              <a:t>. Это может стать узким местом для больших проектов с интенсивным использованием системы контроля версий.</a:t>
            </a:r>
          </a:p>
          <a:p>
            <a:pPr lvl="0"/>
            <a:r>
              <a:rPr lang="ru-RU" u="sng" dirty="0"/>
              <a:t>Меньшее сообщество.</a:t>
            </a:r>
            <a:r>
              <a:rPr lang="ru-RU" dirty="0"/>
              <a:t> Меньше ресурсов и инструментов по сравнению с </a:t>
            </a:r>
            <a:r>
              <a:rPr lang="ru-RU" dirty="0" err="1"/>
              <a:t>Git</a:t>
            </a:r>
            <a:r>
              <a:rPr lang="ru-RU" dirty="0"/>
              <a:t>. Это может затруднить поиск решений для специфических проблем или интеграцию с новыми инструментами.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3154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A22BE-F2C4-CD8B-52F9-384FD50B4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 err="1"/>
              <a:t>Mercurial</a:t>
            </a:r>
            <a:br>
              <a:rPr lang="ru-RU" b="1" i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60DAF-5E10-B540-C7B3-09E6031EA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ru-RU" b="1" dirty="0"/>
              <a:t>Основные особенности </a:t>
            </a:r>
            <a:r>
              <a:rPr lang="ru-RU" b="1" dirty="0" err="1"/>
              <a:t>Mercurial</a:t>
            </a:r>
            <a:endParaRPr lang="ru-RU" dirty="0"/>
          </a:p>
          <a:p>
            <a:pPr lvl="0"/>
            <a:r>
              <a:rPr lang="ru-RU" u="sng" dirty="0"/>
              <a:t>Распределенная архитектура.</a:t>
            </a:r>
            <a:r>
              <a:rPr lang="ru-RU" dirty="0"/>
              <a:t> Как и </a:t>
            </a:r>
            <a:r>
              <a:rPr lang="ru-RU" dirty="0" err="1"/>
              <a:t>Git</a:t>
            </a:r>
            <a:r>
              <a:rPr lang="ru-RU" dirty="0"/>
              <a:t>, </a:t>
            </a:r>
            <a:r>
              <a:rPr lang="ru-RU" dirty="0" err="1"/>
              <a:t>Mercurial</a:t>
            </a:r>
            <a:r>
              <a:rPr lang="ru-RU" dirty="0"/>
              <a:t> позволяет каждому разработчику иметь полную копию репозитория. Это обеспечивает высокую степень автономности и гибкости в работе.</a:t>
            </a:r>
          </a:p>
          <a:p>
            <a:pPr lvl="0"/>
            <a:r>
              <a:rPr lang="ru-RU" u="sng" dirty="0"/>
              <a:t>Простота команд.</a:t>
            </a:r>
            <a:r>
              <a:rPr lang="ru-RU" dirty="0"/>
              <a:t> Команды </a:t>
            </a:r>
            <a:r>
              <a:rPr lang="ru-RU" dirty="0" err="1"/>
              <a:t>Mercurial</a:t>
            </a:r>
            <a:r>
              <a:rPr lang="ru-RU" dirty="0"/>
              <a:t> более интуитивно понятны для новичков. Это снижает порог вхождения и позволяет новым пользователям быстрее освоиться.</a:t>
            </a:r>
          </a:p>
          <a:p>
            <a:pPr lvl="0"/>
            <a:r>
              <a:rPr lang="ru-RU" u="sng" dirty="0"/>
              <a:t>Высокая производительность.</a:t>
            </a:r>
            <a:r>
              <a:rPr lang="ru-RU" dirty="0"/>
              <a:t> </a:t>
            </a:r>
            <a:r>
              <a:rPr lang="ru-RU" dirty="0" err="1"/>
              <a:t>Mercurial</a:t>
            </a:r>
            <a:r>
              <a:rPr lang="ru-RU" dirty="0"/>
              <a:t> оптимизирован для работы с большими проектами и обеспечивает быструю обработку данных. Это делает его подходящим для проектов с большим количеством изменений и активной разработкой.</a:t>
            </a:r>
          </a:p>
          <a:p>
            <a:r>
              <a:rPr lang="ru-RU" b="1" dirty="0"/>
              <a:t>Преимущества </a:t>
            </a:r>
            <a:r>
              <a:rPr lang="ru-RU" b="1" dirty="0" err="1"/>
              <a:t>Mercurial</a:t>
            </a:r>
            <a:endParaRPr lang="ru-RU" dirty="0"/>
          </a:p>
          <a:p>
            <a:pPr lvl="0"/>
            <a:r>
              <a:rPr lang="ru-RU" u="sng" dirty="0"/>
              <a:t>Простота использования.</a:t>
            </a:r>
            <a:r>
              <a:rPr lang="ru-RU" dirty="0"/>
              <a:t> Легкость в освоении благодаря интуитивно понятным командам. Это делает </a:t>
            </a:r>
            <a:r>
              <a:rPr lang="ru-RU" dirty="0" err="1"/>
              <a:t>Mercurial</a:t>
            </a:r>
            <a:r>
              <a:rPr lang="ru-RU" dirty="0"/>
              <a:t> хорошим выбором для команд, ценящих простоту и предсказуемость.</a:t>
            </a:r>
          </a:p>
          <a:p>
            <a:pPr lvl="0"/>
            <a:r>
              <a:rPr lang="ru-RU" u="sng" dirty="0"/>
              <a:t>Стабильность.</a:t>
            </a:r>
            <a:r>
              <a:rPr lang="ru-RU" dirty="0"/>
              <a:t> Высокая надежность и минимальное количество ошибок. Это обеспечивает уверенность в том, что система контроля версий не станет источником проблем.</a:t>
            </a:r>
          </a:p>
          <a:p>
            <a:pPr lvl="0"/>
            <a:r>
              <a:rPr lang="ru-RU" u="sng" dirty="0"/>
              <a:t>Поддержка больших проектов.</a:t>
            </a:r>
            <a:r>
              <a:rPr lang="ru-RU" dirty="0"/>
              <a:t> Хорошо справляется с большими проектами и репозиториями. Это делает </a:t>
            </a:r>
            <a:r>
              <a:rPr lang="ru-RU" dirty="0" err="1"/>
              <a:t>Mercurial</a:t>
            </a:r>
            <a:r>
              <a:rPr lang="ru-RU" dirty="0"/>
              <a:t> подходящим для крупных команд и проектов с интенсивной разработкой.</a:t>
            </a:r>
          </a:p>
          <a:p>
            <a:r>
              <a:rPr lang="ru-RU" b="1" dirty="0"/>
              <a:t>Недостатки </a:t>
            </a:r>
            <a:r>
              <a:rPr lang="ru-RU" b="1" dirty="0" err="1"/>
              <a:t>Mercurial</a:t>
            </a:r>
            <a:endParaRPr lang="ru-RU" dirty="0"/>
          </a:p>
          <a:p>
            <a:pPr lvl="0"/>
            <a:r>
              <a:rPr lang="ru-RU" u="sng" dirty="0"/>
              <a:t>Меньшее сообщество.</a:t>
            </a:r>
            <a:r>
              <a:rPr lang="ru-RU" dirty="0"/>
              <a:t> Меньше ресурсов и инструментов по сравнению с </a:t>
            </a:r>
            <a:r>
              <a:rPr lang="ru-RU" dirty="0" err="1"/>
              <a:t>Git</a:t>
            </a:r>
            <a:r>
              <a:rPr lang="ru-RU" dirty="0"/>
              <a:t>. Это может затруднить поиск решений для специфических проблем или интеграцию с новыми инструментами.</a:t>
            </a:r>
          </a:p>
          <a:p>
            <a:pPr lvl="0"/>
            <a:r>
              <a:rPr lang="ru-RU" u="sng" dirty="0"/>
              <a:t>Ограниченная гибкость.</a:t>
            </a:r>
            <a:r>
              <a:rPr lang="ru-RU" dirty="0"/>
              <a:t> Меньше возможностей для настройки рабочих процессов по сравнению с </a:t>
            </a:r>
            <a:r>
              <a:rPr lang="ru-RU" dirty="0" err="1"/>
              <a:t>Git</a:t>
            </a:r>
            <a:r>
              <a:rPr lang="ru-RU" dirty="0"/>
              <a:t>. Это может быть ограничением для команд, требующих высокой степени гибкости и настройки.</a:t>
            </a:r>
          </a:p>
          <a:p>
            <a:pPr lvl="0"/>
            <a:r>
              <a:rPr lang="ru-RU" u="sng" dirty="0"/>
              <a:t>Меньшая популярность.</a:t>
            </a:r>
            <a:r>
              <a:rPr lang="ru-RU" dirty="0"/>
              <a:t> Меньше интеграций и поддерживаемых платформ. Это может ограничить выбор инструментов и сервисов, совместимых с </a:t>
            </a:r>
            <a:r>
              <a:rPr lang="ru-RU" dirty="0" err="1"/>
              <a:t>Mercurial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3469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E3B04A-E20E-4C1A-7F2F-A3E0B50C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501A54-D340-B8F8-9AF2-9AFA5DF5A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На данный момент </a:t>
            </a:r>
            <a:r>
              <a:rPr lang="ru-RU" dirty="0" err="1"/>
              <a:t>Git</a:t>
            </a:r>
            <a:r>
              <a:rPr lang="ru-RU" dirty="0"/>
              <a:t> считается стандартом в индустрии. Большинство компаний и разработчиков предпочитают использовать </a:t>
            </a:r>
            <a:r>
              <a:rPr lang="en-US" dirty="0"/>
              <a:t>Git </a:t>
            </a:r>
            <a:r>
              <a:rPr lang="ru-RU" dirty="0"/>
              <a:t>для организации работы как индивидуальной, так и командной.</a:t>
            </a:r>
          </a:p>
          <a:p>
            <a:r>
              <a:rPr lang="ru-RU" dirty="0"/>
              <a:t>Однако некоторые предпочитают использовать SVN, если важна централизованная структура и более традиционные процессы, или </a:t>
            </a:r>
            <a:r>
              <a:rPr lang="ru-RU" dirty="0" err="1"/>
              <a:t>Mercurial</a:t>
            </a:r>
            <a:r>
              <a:rPr lang="ru-RU" dirty="0"/>
              <a:t>, если важна простота использования и высокая производительность.</a:t>
            </a:r>
          </a:p>
          <a:p>
            <a:r>
              <a:rPr lang="ru-RU" dirty="0"/>
              <a:t>В итоге, выбор системы контроля версий основывается на специфических потребностях конкретного проекта, команды или индивидуальных предпочтений разработчика.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0669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1791</Words>
  <Application>Microsoft Office PowerPoint</Application>
  <PresentationFormat>Широкоэкранный</PresentationFormat>
  <Paragraphs>112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Системы контроля версий</vt:lpstr>
      <vt:lpstr>Что такое системы контроля версий?</vt:lpstr>
      <vt:lpstr>Где применяются СКВ?</vt:lpstr>
      <vt:lpstr>Основные задачи СКВ</vt:lpstr>
      <vt:lpstr>Этапы развития СКВ</vt:lpstr>
      <vt:lpstr>Локальные системы контроля версий</vt:lpstr>
      <vt:lpstr>Централизованные системы контроля версий </vt:lpstr>
      <vt:lpstr>Распределенные системы контроля версий </vt:lpstr>
      <vt:lpstr>Обзор популярных СКВ</vt:lpstr>
      <vt:lpstr>Git </vt:lpstr>
      <vt:lpstr>Subversion (SVN) </vt:lpstr>
      <vt:lpstr>Mercurial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Абрамова Маргарита Андреевна</dc:creator>
  <cp:lastModifiedBy>Абрамова Маргарита Андреевна</cp:lastModifiedBy>
  <cp:revision>1</cp:revision>
  <dcterms:created xsi:type="dcterms:W3CDTF">2026-03-22T20:52:53Z</dcterms:created>
  <dcterms:modified xsi:type="dcterms:W3CDTF">2026-03-22T20:52:53Z</dcterms:modified>
</cp:coreProperties>
</file>